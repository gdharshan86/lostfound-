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media/image1.png" ContentType="image/png"/>
  <Override PartName="/ppt/media/media11.mp4" ContentType="video/mp4"/>
  <Override PartName="/ppt/media/image3.png" ContentType="image/png"/>
  <Override PartName="/ppt/media/image4.png" ContentType="image/png"/>
  <Override PartName="/ppt/media/image12.png" ContentType="image/png"/>
  <Override PartName="/ppt/media/image5.png" ContentType="image/png"/>
  <Override PartName="/ppt/media/image13.png" ContentType="image/png"/>
  <Override PartName="/ppt/media/image6.png" ContentType="image/png"/>
  <Override PartName="/ppt/media/image14.png" ContentType="image/png"/>
  <Override PartName="/ppt/media/image8.png" ContentType="image/png"/>
  <Override PartName="/ppt/media/image2.png" ContentType="image/png"/>
  <Override PartName="/ppt/media/image10.png" ContentType="image/png"/>
  <Override PartName="/ppt/media/image7.png" ContentType="image/png"/>
  <Override PartName="/ppt/media/image9.png" ContentType="image/png"/>
  <Override PartName="/ppt/slides/_rels/slide27.xml.rels" ContentType="application/vnd.openxmlformats-package.relationships+xml"/>
  <Override PartName="/ppt/slides/_rels/slide26.xml.rels" ContentType="application/vnd.openxmlformats-package.relationships+xml"/>
  <Override PartName="/ppt/slides/_rels/slide9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3.xml.rels" ContentType="application/vnd.openxmlformats-package.relationships+xml"/>
  <Override PartName="/ppt/slides/_rels/slide20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1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D87F67B-5B16-49DA-A746-B1AE30DF39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18C6ABF-F176-45FC-8105-560639882A35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uFillTx/>
                <a:latin typeface="Arial"/>
              </a:rPr>
              <a:t>Double-tap to edit the title text format</a:t>
            </a:r>
            <a:endParaRPr b="0" lang="en-US" sz="4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uFillTx/>
                <a:latin typeface="Arial"/>
              </a:rPr>
              <a:t>Double-tap to edit the outline text format</a:t>
            </a:r>
            <a:endParaRPr b="0" lang="en-US" sz="3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video" Target="../media/media11.mp4"/><Relationship Id="rId2" Type="http://schemas.microsoft.com/office/2007/relationships/media" Target="../media/media11.mp4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/>
          <p:nvPr/>
        </p:nvSpPr>
        <p:spPr>
          <a:xfrm>
            <a:off x="5018400" y="384120"/>
            <a:ext cx="2123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f5fa"/>
                </a:solidFill>
                <a:uFillTx/>
                <a:latin typeface="Aptos Display"/>
              </a:rPr>
              <a:t>LostFound+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" name="TextBox 2"/>
          <p:cNvSpPr/>
          <p:nvPr/>
        </p:nvSpPr>
        <p:spPr>
          <a:xfrm>
            <a:off x="4577760" y="960120"/>
            <a:ext cx="28771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a4a4bc"/>
                </a:solidFill>
                <a:uFillTx/>
                <a:latin typeface="Aptos"/>
              </a:rPr>
              <a:t>Lost and Found Management Portal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" name="TextBox 3"/>
          <p:cNvSpPr/>
          <p:nvPr/>
        </p:nvSpPr>
        <p:spPr>
          <a:xfrm>
            <a:off x="822960" y="1417320"/>
            <a:ext cx="10332000" cy="16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A centralized portal to report, search, match, and recover lost or found belongings.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Core modules: reporting, image uploads, authentication, search and filters, claim requests, and status tracking.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Technology focus: React, Vite, Tailwind CSS, Axios, React Router, and MongoDB-based application architecture.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" name="Rectangle 4"/>
          <p:cNvSpPr/>
          <p:nvPr/>
        </p:nvSpPr>
        <p:spPr>
          <a:xfrm>
            <a:off x="594360" y="6473880"/>
            <a:ext cx="10972080" cy="8280"/>
          </a:xfrm>
          <a:prstGeom prst="rect">
            <a:avLst/>
          </a:prstGeom>
          <a:solidFill>
            <a:srgbClr val="302f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0" bIns="-36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" name="TextBox 5"/>
          <p:cNvSpPr/>
          <p:nvPr/>
        </p:nvSpPr>
        <p:spPr>
          <a:xfrm>
            <a:off x="3847680" y="6519600"/>
            <a:ext cx="217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a4a4bc"/>
                </a:solidFill>
                <a:uFillTx/>
                <a:latin typeface="Calibri"/>
              </a:rPr>
              <a:t>LostFound+  |  Smart Lost &amp; Found Platform</a:t>
            </a:r>
            <a:endParaRPr b="0" lang="en-US" sz="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" name="TextBox 6"/>
          <p:cNvSpPr/>
          <p:nvPr/>
        </p:nvSpPr>
        <p:spPr>
          <a:xfrm>
            <a:off x="11032920" y="6492240"/>
            <a:ext cx="2444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a4a4bc"/>
                </a:solidFill>
                <a:uFillTx/>
                <a:latin typeface="Calibri"/>
              </a:rPr>
              <a:t>1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" name="TextBox 7"/>
          <p:cNvSpPr/>
          <p:nvPr/>
        </p:nvSpPr>
        <p:spPr>
          <a:xfrm>
            <a:off x="2981160" y="5257800"/>
            <a:ext cx="59238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57cde5"/>
                </a:solidFill>
                <a:uFillTx/>
                <a:latin typeface="Calibri"/>
              </a:rPr>
              <a:t>MongoDB Tech-Odyssey 2026  •  Project Documentation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"/>
          <p:cNvSpPr/>
          <p:nvPr/>
        </p:nvSpPr>
        <p:spPr>
          <a:xfrm>
            <a:off x="4233240" y="384120"/>
            <a:ext cx="36939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f5fa"/>
                </a:solidFill>
                <a:uFillTx/>
                <a:latin typeface="Aptos Display"/>
              </a:rPr>
              <a:t>1. Problem Statement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" name="TextBox 2"/>
          <p:cNvSpPr/>
          <p:nvPr/>
        </p:nvSpPr>
        <p:spPr>
          <a:xfrm>
            <a:off x="4823640" y="960120"/>
            <a:ext cx="23850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a4a4bc"/>
                </a:solidFill>
                <a:uFillTx/>
                <a:latin typeface="Aptos"/>
              </a:rPr>
              <a:t>Lost and Found Management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" name="TextBox 3"/>
          <p:cNvSpPr/>
          <p:nvPr/>
        </p:nvSpPr>
        <p:spPr>
          <a:xfrm>
            <a:off x="822960" y="1417320"/>
            <a:ext cx="10332000" cy="15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Lost belongings are often reported through informal channels, making them difficult to track.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Users need one place to submit lost or found item details with images and location information.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The system should help users discover possible matches, submit claims, and monitor claim status.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LostFound+ provides a structured workflow from reporting to recovery.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" name="Rectangle 4"/>
          <p:cNvSpPr/>
          <p:nvPr/>
        </p:nvSpPr>
        <p:spPr>
          <a:xfrm>
            <a:off x="594360" y="6473880"/>
            <a:ext cx="10972080" cy="8280"/>
          </a:xfrm>
          <a:prstGeom prst="rect">
            <a:avLst/>
          </a:prstGeom>
          <a:solidFill>
            <a:srgbClr val="302f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0" bIns="-36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6" name="TextBox 5"/>
          <p:cNvSpPr/>
          <p:nvPr/>
        </p:nvSpPr>
        <p:spPr>
          <a:xfrm>
            <a:off x="3847680" y="6519600"/>
            <a:ext cx="217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a4a4bc"/>
                </a:solidFill>
                <a:uFillTx/>
                <a:latin typeface="Calibri"/>
              </a:rPr>
              <a:t>LostFound+  |  Smart Lost &amp; Found Platform</a:t>
            </a:r>
            <a:endParaRPr b="0" lang="en-US" sz="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" name="TextBox 6"/>
          <p:cNvSpPr/>
          <p:nvPr/>
        </p:nvSpPr>
        <p:spPr>
          <a:xfrm>
            <a:off x="11032920" y="6492240"/>
            <a:ext cx="2444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a4a4bc"/>
                </a:solidFill>
                <a:uFillTx/>
                <a:latin typeface="Calibri"/>
              </a:rPr>
              <a:t>2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"/>
          <p:cNvSpPr/>
          <p:nvPr/>
        </p:nvSpPr>
        <p:spPr>
          <a:xfrm>
            <a:off x="4309200" y="384120"/>
            <a:ext cx="3542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f5fa"/>
                </a:solidFill>
                <a:uFillTx/>
                <a:latin typeface="Aptos Display"/>
              </a:rPr>
              <a:t>2. Project Objectives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9" name="TextBox 2"/>
          <p:cNvSpPr/>
          <p:nvPr/>
        </p:nvSpPr>
        <p:spPr>
          <a:xfrm>
            <a:off x="822960" y="1417320"/>
            <a:ext cx="10332000" cy="240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Provide a simple interface for reporting lost and found items.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Allow users to upload item images and detailed descriptions.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Support secure authentication and user-specific reports and claims.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Enable search and filtering across reported items.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Support claim requests and status tracking.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Use MongoDB data operations and aggregation where required.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0" name="Rectangle 3"/>
          <p:cNvSpPr/>
          <p:nvPr/>
        </p:nvSpPr>
        <p:spPr>
          <a:xfrm>
            <a:off x="594360" y="6473880"/>
            <a:ext cx="10972080" cy="8280"/>
          </a:xfrm>
          <a:prstGeom prst="rect">
            <a:avLst/>
          </a:prstGeom>
          <a:solidFill>
            <a:srgbClr val="302f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0" bIns="-36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1" name="TextBox 4"/>
          <p:cNvSpPr/>
          <p:nvPr/>
        </p:nvSpPr>
        <p:spPr>
          <a:xfrm>
            <a:off x="3847680" y="6519600"/>
            <a:ext cx="217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a4a4bc"/>
                </a:solidFill>
                <a:uFillTx/>
                <a:latin typeface="Calibri"/>
              </a:rPr>
              <a:t>LostFound+  |  Smart Lost &amp; Found Platform</a:t>
            </a:r>
            <a:endParaRPr b="0" lang="en-US" sz="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2" name="TextBox 5"/>
          <p:cNvSpPr/>
          <p:nvPr/>
        </p:nvSpPr>
        <p:spPr>
          <a:xfrm>
            <a:off x="11032920" y="6492240"/>
            <a:ext cx="2444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a4a4bc"/>
                </a:solidFill>
                <a:uFillTx/>
                <a:latin typeface="Calibri"/>
              </a:rPr>
              <a:t>3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1"/>
          <p:cNvSpPr/>
          <p:nvPr/>
        </p:nvSpPr>
        <p:spPr>
          <a:xfrm>
            <a:off x="4728600" y="384120"/>
            <a:ext cx="2703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f5fa"/>
                </a:solidFill>
                <a:uFillTx/>
                <a:latin typeface="Aptos Display"/>
              </a:rPr>
              <a:t>3. Key Features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4" name="TextBox 2"/>
          <p:cNvSpPr/>
          <p:nvPr/>
        </p:nvSpPr>
        <p:spPr>
          <a:xfrm>
            <a:off x="822960" y="1417320"/>
            <a:ext cx="10332000" cy="32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Lost item reporting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Found item reporting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Image upload support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Browse, search, and filter items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Smart match presentation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Claim submission and review status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User profile and activity summary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My Reports and My Claims tracking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5" name="Rectangle 3"/>
          <p:cNvSpPr/>
          <p:nvPr/>
        </p:nvSpPr>
        <p:spPr>
          <a:xfrm>
            <a:off x="594360" y="6473880"/>
            <a:ext cx="10972080" cy="8280"/>
          </a:xfrm>
          <a:prstGeom prst="rect">
            <a:avLst/>
          </a:prstGeom>
          <a:solidFill>
            <a:srgbClr val="302f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0" bIns="-36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26" name="TextBox 4"/>
          <p:cNvSpPr/>
          <p:nvPr/>
        </p:nvSpPr>
        <p:spPr>
          <a:xfrm>
            <a:off x="3847680" y="6519600"/>
            <a:ext cx="217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a4a4bc"/>
                </a:solidFill>
                <a:uFillTx/>
                <a:latin typeface="Calibri"/>
              </a:rPr>
              <a:t>LostFound+  |  Smart Lost &amp; Found Platform</a:t>
            </a:r>
            <a:endParaRPr b="0" lang="en-US" sz="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7" name="TextBox 5"/>
          <p:cNvSpPr/>
          <p:nvPr/>
        </p:nvSpPr>
        <p:spPr>
          <a:xfrm>
            <a:off x="11032920" y="6492240"/>
            <a:ext cx="2444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a4a4bc"/>
                </a:solidFill>
                <a:uFillTx/>
                <a:latin typeface="Calibri"/>
              </a:rPr>
              <a:t>4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1"/>
          <p:cNvSpPr/>
          <p:nvPr/>
        </p:nvSpPr>
        <p:spPr>
          <a:xfrm>
            <a:off x="4707360" y="384120"/>
            <a:ext cx="27457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f5fa"/>
                </a:solidFill>
                <a:uFillTx/>
                <a:latin typeface="Aptos Display"/>
              </a:rPr>
              <a:t>4. Website Flow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29" name="TextBox 2"/>
          <p:cNvSpPr/>
          <p:nvPr/>
        </p:nvSpPr>
        <p:spPr>
          <a:xfrm>
            <a:off x="4019760" y="960120"/>
            <a:ext cx="39927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a4a4bc"/>
                </a:solidFill>
                <a:uFillTx/>
                <a:latin typeface="Aptos"/>
              </a:rPr>
              <a:t>Reverse-order presentation of the provided UI flow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0" name="TextBox 3"/>
          <p:cNvSpPr/>
          <p:nvPr/>
        </p:nvSpPr>
        <p:spPr>
          <a:xfrm>
            <a:off x="822960" y="1417320"/>
            <a:ext cx="10332000" cy="143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Lost / Found report creation → item details → browse/search → claims → user activity/profile.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The project documentation places the 'Lost Something?' reporting experience prominently as the first website interaction.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Use the editable screenshot placeholders on the following slides for any additional final screenshots.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1" name="Rectangle 4"/>
          <p:cNvSpPr/>
          <p:nvPr/>
        </p:nvSpPr>
        <p:spPr>
          <a:xfrm>
            <a:off x="594360" y="6473880"/>
            <a:ext cx="10972080" cy="8280"/>
          </a:xfrm>
          <a:prstGeom prst="rect">
            <a:avLst/>
          </a:prstGeom>
          <a:solidFill>
            <a:srgbClr val="302f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0" bIns="-36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2" name="TextBox 5"/>
          <p:cNvSpPr/>
          <p:nvPr/>
        </p:nvSpPr>
        <p:spPr>
          <a:xfrm>
            <a:off x="3847680" y="6519600"/>
            <a:ext cx="217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a4a4bc"/>
                </a:solidFill>
                <a:uFillTx/>
                <a:latin typeface="Calibri"/>
              </a:rPr>
              <a:t>LostFound+  |  Smart Lost &amp; Found Platform</a:t>
            </a:r>
            <a:endParaRPr b="0" lang="en-US" sz="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3" name="TextBox 6"/>
          <p:cNvSpPr/>
          <p:nvPr/>
        </p:nvSpPr>
        <p:spPr>
          <a:xfrm>
            <a:off x="11032920" y="6492240"/>
            <a:ext cx="2444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a4a4bc"/>
                </a:solidFill>
                <a:uFillTx/>
                <a:latin typeface="Calibri"/>
              </a:rPr>
              <a:t>5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Box 1"/>
          <p:cNvSpPr/>
          <p:nvPr/>
        </p:nvSpPr>
        <p:spPr>
          <a:xfrm>
            <a:off x="461520" y="384120"/>
            <a:ext cx="27057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89280" rIns="8928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f5fa"/>
                </a:solidFill>
                <a:uFillTx/>
                <a:latin typeface="Aptos Display"/>
              </a:rPr>
              <a:t>5. </a:t>
            </a:r>
            <a:r>
              <a:rPr b="1" lang="en-IN" sz="2800" strike="noStrike" u="none">
                <a:solidFill>
                  <a:srgbClr val="f5f5fa"/>
                </a:solidFill>
                <a:uFillTx/>
                <a:latin typeface="Aptos Display"/>
              </a:rPr>
              <a:t>HOME PAGE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5" name="TextBox 2"/>
          <p:cNvSpPr/>
          <p:nvPr/>
        </p:nvSpPr>
        <p:spPr>
          <a:xfrm>
            <a:off x="4077000" y="960120"/>
            <a:ext cx="38782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a4a4bc"/>
                </a:solidFill>
                <a:uFillTx/>
                <a:latin typeface="Aptos"/>
              </a:rPr>
              <a:t>Website first-page / primary reporting experience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6" name="Rounded Rectangle 3"/>
          <p:cNvSpPr/>
          <p:nvPr/>
        </p:nvSpPr>
        <p:spPr>
          <a:xfrm>
            <a:off x="685800" y="1325880"/>
            <a:ext cx="10789200" cy="4479840"/>
          </a:xfrm>
          <a:prstGeom prst="roundRect">
            <a:avLst>
              <a:gd name="adj" fmla="val 16667"/>
            </a:avLst>
          </a:prstGeom>
          <a:solidFill>
            <a:srgbClr val="181728"/>
          </a:solidFill>
          <a:ln w="19050">
            <a:solidFill>
              <a:srgbClr val="5a5778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7" name="TextBox 4"/>
          <p:cNvSpPr/>
          <p:nvPr/>
        </p:nvSpPr>
        <p:spPr>
          <a:xfrm>
            <a:off x="3374640" y="3307680"/>
            <a:ext cx="541152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57cde5"/>
                </a:solidFill>
                <a:uFillTx/>
                <a:latin typeface="Calibri"/>
              </a:rPr>
              <a:t>INSERT: Lost Something? / Home Page screenshot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a4a4bc"/>
                </a:solidFill>
                <a:uFillTx/>
                <a:latin typeface="Calibri"/>
              </a:rPr>
              <a:t>Place the final website screenshot here. The image object remains editable/movable.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8" name="Rectangle 5"/>
          <p:cNvSpPr/>
          <p:nvPr/>
        </p:nvSpPr>
        <p:spPr>
          <a:xfrm>
            <a:off x="594360" y="6473880"/>
            <a:ext cx="10972080" cy="8280"/>
          </a:xfrm>
          <a:prstGeom prst="rect">
            <a:avLst/>
          </a:prstGeom>
          <a:solidFill>
            <a:srgbClr val="302f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0" bIns="-36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39" name="TextBox 6"/>
          <p:cNvSpPr/>
          <p:nvPr/>
        </p:nvSpPr>
        <p:spPr>
          <a:xfrm>
            <a:off x="3847680" y="6519600"/>
            <a:ext cx="217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a4a4bc"/>
                </a:solidFill>
                <a:uFillTx/>
                <a:latin typeface="Calibri"/>
              </a:rPr>
              <a:t>LostFound+  |  Smart Lost &amp; Found Platform</a:t>
            </a:r>
            <a:endParaRPr b="0" lang="en-US" sz="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0" name="TextBox 7"/>
          <p:cNvSpPr/>
          <p:nvPr/>
        </p:nvSpPr>
        <p:spPr>
          <a:xfrm>
            <a:off x="11032920" y="6492240"/>
            <a:ext cx="2444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a4a4bc"/>
                </a:solidFill>
                <a:uFillTx/>
                <a:latin typeface="Calibri"/>
              </a:rPr>
              <a:t>6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41" name="Picture 9" descr=""/>
          <p:cNvPicPr/>
          <p:nvPr/>
        </p:nvPicPr>
        <p:blipFill>
          <a:blip r:embed="rId1"/>
          <a:stretch/>
        </p:blipFill>
        <p:spPr>
          <a:xfrm>
            <a:off x="685800" y="907200"/>
            <a:ext cx="10834920" cy="5869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1"/>
          <p:cNvSpPr/>
          <p:nvPr/>
        </p:nvSpPr>
        <p:spPr>
          <a:xfrm>
            <a:off x="4466520" y="384120"/>
            <a:ext cx="32277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f5fa"/>
                </a:solidFill>
                <a:uFillTx/>
                <a:latin typeface="Aptos Display"/>
              </a:rPr>
              <a:t>6. User Dashboard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3" name="TextBox 2"/>
          <p:cNvSpPr/>
          <p:nvPr/>
        </p:nvSpPr>
        <p:spPr>
          <a:xfrm>
            <a:off x="4581000" y="960120"/>
            <a:ext cx="28706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a4a4bc"/>
                </a:solidFill>
                <a:uFillTx/>
                <a:latin typeface="Aptos"/>
              </a:rPr>
              <a:t>Activity summary and quick actions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4" name="Rounded Rectangle 3"/>
          <p:cNvSpPr/>
          <p:nvPr/>
        </p:nvSpPr>
        <p:spPr>
          <a:xfrm>
            <a:off x="685800" y="1325880"/>
            <a:ext cx="10789200" cy="4479840"/>
          </a:xfrm>
          <a:prstGeom prst="roundRect">
            <a:avLst>
              <a:gd name="adj" fmla="val 16667"/>
            </a:avLst>
          </a:prstGeom>
          <a:solidFill>
            <a:srgbClr val="181728"/>
          </a:solidFill>
          <a:ln w="19050">
            <a:solidFill>
              <a:srgbClr val="5a5778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5" name="Rectangle 5"/>
          <p:cNvSpPr/>
          <p:nvPr/>
        </p:nvSpPr>
        <p:spPr>
          <a:xfrm>
            <a:off x="594360" y="6473880"/>
            <a:ext cx="10972080" cy="8280"/>
          </a:xfrm>
          <a:prstGeom prst="rect">
            <a:avLst/>
          </a:prstGeom>
          <a:solidFill>
            <a:srgbClr val="302f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0" bIns="-36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46" name="TextBox 6"/>
          <p:cNvSpPr/>
          <p:nvPr/>
        </p:nvSpPr>
        <p:spPr>
          <a:xfrm>
            <a:off x="3847680" y="6519600"/>
            <a:ext cx="217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a4a4bc"/>
                </a:solidFill>
                <a:uFillTx/>
                <a:latin typeface="Calibri"/>
              </a:rPr>
              <a:t>LostFound+  |  Smart Lost &amp; Found Platform</a:t>
            </a:r>
            <a:endParaRPr b="0" lang="en-US" sz="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7" name="TextBox 7"/>
          <p:cNvSpPr/>
          <p:nvPr/>
        </p:nvSpPr>
        <p:spPr>
          <a:xfrm>
            <a:off x="11032920" y="6492240"/>
            <a:ext cx="2444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a4a4bc"/>
                </a:solidFill>
                <a:uFillTx/>
                <a:latin typeface="Calibri"/>
              </a:rPr>
              <a:t>7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48" name="Picture 9" descr=""/>
          <p:cNvPicPr/>
          <p:nvPr/>
        </p:nvPicPr>
        <p:blipFill>
          <a:blip r:embed="rId1"/>
          <a:stretch/>
        </p:blipFill>
        <p:spPr>
          <a:xfrm>
            <a:off x="461880" y="1031760"/>
            <a:ext cx="11104560" cy="5144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Box 1"/>
          <p:cNvSpPr/>
          <p:nvPr/>
        </p:nvSpPr>
        <p:spPr>
          <a:xfrm>
            <a:off x="4971960" y="384120"/>
            <a:ext cx="22168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f5fa"/>
                </a:solidFill>
                <a:uFillTx/>
                <a:latin typeface="Aptos Display"/>
              </a:rPr>
              <a:t>7. My Profile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0" name="TextBox 2"/>
          <p:cNvSpPr/>
          <p:nvPr/>
        </p:nvSpPr>
        <p:spPr>
          <a:xfrm>
            <a:off x="4642200" y="960120"/>
            <a:ext cx="27482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a4a4bc"/>
                </a:solidFill>
                <a:uFillTx/>
                <a:latin typeface="Aptos"/>
              </a:rPr>
              <a:t>User information and account role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1" name="Rounded Rectangle 3"/>
          <p:cNvSpPr/>
          <p:nvPr/>
        </p:nvSpPr>
        <p:spPr>
          <a:xfrm>
            <a:off x="685800" y="1325880"/>
            <a:ext cx="10789200" cy="4479840"/>
          </a:xfrm>
          <a:prstGeom prst="roundRect">
            <a:avLst>
              <a:gd name="adj" fmla="val 16667"/>
            </a:avLst>
          </a:prstGeom>
          <a:solidFill>
            <a:srgbClr val="181728"/>
          </a:solidFill>
          <a:ln w="19050">
            <a:solidFill>
              <a:srgbClr val="5a5778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2" name="Rectangle 5"/>
          <p:cNvSpPr/>
          <p:nvPr/>
        </p:nvSpPr>
        <p:spPr>
          <a:xfrm>
            <a:off x="594360" y="6473880"/>
            <a:ext cx="10972080" cy="8280"/>
          </a:xfrm>
          <a:prstGeom prst="rect">
            <a:avLst/>
          </a:prstGeom>
          <a:solidFill>
            <a:srgbClr val="302f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0" bIns="-36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3" name="TextBox 6"/>
          <p:cNvSpPr/>
          <p:nvPr/>
        </p:nvSpPr>
        <p:spPr>
          <a:xfrm>
            <a:off x="3847680" y="6519600"/>
            <a:ext cx="217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a4a4bc"/>
                </a:solidFill>
                <a:uFillTx/>
                <a:latin typeface="Calibri"/>
              </a:rPr>
              <a:t>LostFound+  |  Smart Lost &amp; Found Platform</a:t>
            </a:r>
            <a:endParaRPr b="0" lang="en-US" sz="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4" name="TextBox 7"/>
          <p:cNvSpPr/>
          <p:nvPr/>
        </p:nvSpPr>
        <p:spPr>
          <a:xfrm>
            <a:off x="11032920" y="6492240"/>
            <a:ext cx="2444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a4a4bc"/>
                </a:solidFill>
                <a:uFillTx/>
                <a:latin typeface="Calibri"/>
              </a:rPr>
              <a:t>8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55" name="Picture 9" descr=""/>
          <p:cNvPicPr/>
          <p:nvPr/>
        </p:nvPicPr>
        <p:blipFill>
          <a:blip r:embed="rId1"/>
          <a:stretch/>
        </p:blipFill>
        <p:spPr>
          <a:xfrm>
            <a:off x="502920" y="987480"/>
            <a:ext cx="10972080" cy="5101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1"/>
          <p:cNvSpPr/>
          <p:nvPr/>
        </p:nvSpPr>
        <p:spPr>
          <a:xfrm>
            <a:off x="4683240" y="384120"/>
            <a:ext cx="27939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f5fa"/>
                </a:solidFill>
                <a:uFillTx/>
                <a:latin typeface="Aptos Display"/>
              </a:rPr>
              <a:t>8. Browse Items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7" name="TextBox 2"/>
          <p:cNvSpPr/>
          <p:nvPr/>
        </p:nvSpPr>
        <p:spPr>
          <a:xfrm>
            <a:off x="4802760" y="960120"/>
            <a:ext cx="24267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a4a4bc"/>
                </a:solidFill>
                <a:uFillTx/>
                <a:latin typeface="Aptos"/>
              </a:rPr>
              <a:t>Search, filters, and item cards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8" name="Rounded Rectangle 3"/>
          <p:cNvSpPr/>
          <p:nvPr/>
        </p:nvSpPr>
        <p:spPr>
          <a:xfrm>
            <a:off x="685800" y="1325880"/>
            <a:ext cx="10789200" cy="4479840"/>
          </a:xfrm>
          <a:prstGeom prst="roundRect">
            <a:avLst>
              <a:gd name="adj" fmla="val 16667"/>
            </a:avLst>
          </a:prstGeom>
          <a:solidFill>
            <a:srgbClr val="181728"/>
          </a:solidFill>
          <a:ln w="19050">
            <a:solidFill>
              <a:srgbClr val="5a5778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59" name="Rectangle 5"/>
          <p:cNvSpPr/>
          <p:nvPr/>
        </p:nvSpPr>
        <p:spPr>
          <a:xfrm>
            <a:off x="594360" y="6473880"/>
            <a:ext cx="10972080" cy="8280"/>
          </a:xfrm>
          <a:prstGeom prst="rect">
            <a:avLst/>
          </a:prstGeom>
          <a:solidFill>
            <a:srgbClr val="302f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0" bIns="-36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0" name="TextBox 6"/>
          <p:cNvSpPr/>
          <p:nvPr/>
        </p:nvSpPr>
        <p:spPr>
          <a:xfrm>
            <a:off x="3847680" y="6519600"/>
            <a:ext cx="217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a4a4bc"/>
                </a:solidFill>
                <a:uFillTx/>
                <a:latin typeface="Calibri"/>
              </a:rPr>
              <a:t>LostFound+  |  Smart Lost &amp; Found Platform</a:t>
            </a:r>
            <a:endParaRPr b="0" lang="en-US" sz="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1" name="TextBox 7"/>
          <p:cNvSpPr/>
          <p:nvPr/>
        </p:nvSpPr>
        <p:spPr>
          <a:xfrm>
            <a:off x="11032920" y="6492240"/>
            <a:ext cx="2444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a4a4bc"/>
                </a:solidFill>
                <a:uFillTx/>
                <a:latin typeface="Calibri"/>
              </a:rPr>
              <a:t>9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62" name="Picture 9" descr=""/>
          <p:cNvPicPr/>
          <p:nvPr/>
        </p:nvPicPr>
        <p:blipFill>
          <a:blip r:embed="rId1"/>
          <a:stretch/>
        </p:blipFill>
        <p:spPr>
          <a:xfrm>
            <a:off x="594360" y="898560"/>
            <a:ext cx="10972080" cy="5958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1"/>
          <p:cNvSpPr/>
          <p:nvPr/>
        </p:nvSpPr>
        <p:spPr>
          <a:xfrm>
            <a:off x="322200" y="174600"/>
            <a:ext cx="3020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89280" rIns="8928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f5fa"/>
                </a:solidFill>
                <a:uFillTx/>
                <a:latin typeface="Aptos Display"/>
              </a:rPr>
              <a:t>9. </a:t>
            </a:r>
            <a:r>
              <a:rPr b="1" lang="en-IN" sz="2800" strike="noStrike" u="none">
                <a:solidFill>
                  <a:srgbClr val="f5f5fa"/>
                </a:solidFill>
                <a:uFillTx/>
                <a:latin typeface="Aptos Display"/>
              </a:rPr>
              <a:t>ITEM DETAILS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4" name="TextBox 2"/>
          <p:cNvSpPr/>
          <p:nvPr/>
        </p:nvSpPr>
        <p:spPr>
          <a:xfrm>
            <a:off x="4771080" y="960120"/>
            <a:ext cx="249012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a4a4bc"/>
                </a:solidFill>
                <a:uFillTx/>
                <a:latin typeface="Aptos"/>
              </a:rPr>
              <a:t>User-reported lost/found items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5" name="Rounded Rectangle 3"/>
          <p:cNvSpPr/>
          <p:nvPr/>
        </p:nvSpPr>
        <p:spPr>
          <a:xfrm>
            <a:off x="685800" y="1325880"/>
            <a:ext cx="10789200" cy="4479840"/>
          </a:xfrm>
          <a:prstGeom prst="roundRect">
            <a:avLst>
              <a:gd name="adj" fmla="val 16667"/>
            </a:avLst>
          </a:prstGeom>
          <a:solidFill>
            <a:srgbClr val="181728"/>
          </a:solidFill>
          <a:ln w="19050">
            <a:solidFill>
              <a:srgbClr val="5a5778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6" name="Rectangle 5"/>
          <p:cNvSpPr/>
          <p:nvPr/>
        </p:nvSpPr>
        <p:spPr>
          <a:xfrm>
            <a:off x="594360" y="6473880"/>
            <a:ext cx="10972080" cy="8280"/>
          </a:xfrm>
          <a:prstGeom prst="rect">
            <a:avLst/>
          </a:prstGeom>
          <a:solidFill>
            <a:srgbClr val="302f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0" bIns="-36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67" name="TextBox 6"/>
          <p:cNvSpPr/>
          <p:nvPr/>
        </p:nvSpPr>
        <p:spPr>
          <a:xfrm>
            <a:off x="3847680" y="6519600"/>
            <a:ext cx="217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a4a4bc"/>
                </a:solidFill>
                <a:uFillTx/>
                <a:latin typeface="Calibri"/>
              </a:rPr>
              <a:t>LostFound+  |  Smart Lost &amp; Found Platform</a:t>
            </a:r>
            <a:endParaRPr b="0" lang="en-US" sz="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8" name="TextBox 7"/>
          <p:cNvSpPr/>
          <p:nvPr/>
        </p:nvSpPr>
        <p:spPr>
          <a:xfrm>
            <a:off x="11001240" y="6492240"/>
            <a:ext cx="3078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a4a4bc"/>
                </a:solidFill>
                <a:uFillTx/>
                <a:latin typeface="Calibri"/>
              </a:rPr>
              <a:t>10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69" name="Picture 9" descr=""/>
          <p:cNvPicPr/>
          <p:nvPr/>
        </p:nvPicPr>
        <p:blipFill>
          <a:blip r:embed="rId1"/>
          <a:stretch/>
        </p:blipFill>
        <p:spPr>
          <a:xfrm>
            <a:off x="496800" y="820080"/>
            <a:ext cx="11039040" cy="6037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1"/>
          <p:cNvSpPr/>
          <p:nvPr/>
        </p:nvSpPr>
        <p:spPr>
          <a:xfrm>
            <a:off x="4171320" y="136440"/>
            <a:ext cx="34938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f5fa"/>
                </a:solidFill>
                <a:uFillTx/>
                <a:latin typeface="Aptos Display"/>
              </a:rPr>
              <a:t>10. Report Lost Item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4685400" y="960120"/>
            <a:ext cx="266148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a4a4bc"/>
                </a:solidFill>
                <a:uFillTx/>
                <a:latin typeface="Aptos"/>
              </a:rPr>
              <a:t>Lost item form and image upload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2" name="Rounded Rectangle 3"/>
          <p:cNvSpPr/>
          <p:nvPr/>
        </p:nvSpPr>
        <p:spPr>
          <a:xfrm>
            <a:off x="685800" y="1325880"/>
            <a:ext cx="10789200" cy="4479840"/>
          </a:xfrm>
          <a:prstGeom prst="roundRect">
            <a:avLst>
              <a:gd name="adj" fmla="val 16667"/>
            </a:avLst>
          </a:prstGeom>
          <a:solidFill>
            <a:srgbClr val="181728"/>
          </a:solidFill>
          <a:ln w="19050">
            <a:solidFill>
              <a:srgbClr val="5a5778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3" name="Rectangle 5"/>
          <p:cNvSpPr/>
          <p:nvPr/>
        </p:nvSpPr>
        <p:spPr>
          <a:xfrm>
            <a:off x="594360" y="6473880"/>
            <a:ext cx="10972080" cy="8280"/>
          </a:xfrm>
          <a:prstGeom prst="rect">
            <a:avLst/>
          </a:prstGeom>
          <a:solidFill>
            <a:srgbClr val="302f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0" bIns="-36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74" name="TextBox 6"/>
          <p:cNvSpPr/>
          <p:nvPr/>
        </p:nvSpPr>
        <p:spPr>
          <a:xfrm>
            <a:off x="3847680" y="6519600"/>
            <a:ext cx="217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a4a4bc"/>
                </a:solidFill>
                <a:uFillTx/>
                <a:latin typeface="Calibri"/>
              </a:rPr>
              <a:t>LostFound+  |  Smart Lost &amp; Found Platform</a:t>
            </a:r>
            <a:endParaRPr b="0" lang="en-US" sz="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5" name="TextBox 7"/>
          <p:cNvSpPr/>
          <p:nvPr/>
        </p:nvSpPr>
        <p:spPr>
          <a:xfrm>
            <a:off x="11005560" y="6492240"/>
            <a:ext cx="29952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a4a4bc"/>
                </a:solidFill>
                <a:uFillTx/>
                <a:latin typeface="Calibri"/>
              </a:rPr>
              <a:t>11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76" name="Picture 9" descr=""/>
          <p:cNvPicPr/>
          <p:nvPr/>
        </p:nvPicPr>
        <p:blipFill>
          <a:blip r:embed="rId1"/>
          <a:stretch/>
        </p:blipFill>
        <p:spPr>
          <a:xfrm>
            <a:off x="466200" y="807120"/>
            <a:ext cx="10938240" cy="5913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1"/>
          <p:cNvSpPr/>
          <p:nvPr/>
        </p:nvSpPr>
        <p:spPr>
          <a:xfrm>
            <a:off x="4175280" y="384120"/>
            <a:ext cx="3810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f5fa"/>
                </a:solidFill>
                <a:uFillTx/>
                <a:latin typeface="Aptos Display"/>
              </a:rPr>
              <a:t>11. Report Found Item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4611960" y="960120"/>
            <a:ext cx="28083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a4a4bc"/>
                </a:solidFill>
                <a:uFillTx/>
                <a:latin typeface="Aptos"/>
              </a:rPr>
              <a:t>Found item form and image upload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79" name="Picture 3" descr="60e45417-d979-4e31-8461-16e00c98d179.png"/>
          <p:cNvPicPr/>
          <p:nvPr/>
        </p:nvPicPr>
        <p:blipFill>
          <a:blip r:embed="rId1"/>
          <a:stretch/>
        </p:blipFill>
        <p:spPr>
          <a:xfrm>
            <a:off x="685800" y="1234440"/>
            <a:ext cx="10789200" cy="539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Rectangle 4"/>
          <p:cNvSpPr/>
          <p:nvPr/>
        </p:nvSpPr>
        <p:spPr>
          <a:xfrm>
            <a:off x="594360" y="6473880"/>
            <a:ext cx="10972080" cy="8280"/>
          </a:xfrm>
          <a:prstGeom prst="rect">
            <a:avLst/>
          </a:prstGeom>
          <a:solidFill>
            <a:srgbClr val="302f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0" bIns="-36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81" name="TextBox 5"/>
          <p:cNvSpPr/>
          <p:nvPr/>
        </p:nvSpPr>
        <p:spPr>
          <a:xfrm>
            <a:off x="3847680" y="6519600"/>
            <a:ext cx="217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a4a4bc"/>
                </a:solidFill>
                <a:uFillTx/>
                <a:latin typeface="Calibri"/>
              </a:rPr>
              <a:t>LostFound+  |  Smart Lost &amp; Found Platform</a:t>
            </a:r>
            <a:endParaRPr b="0" lang="en-US" sz="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2" name="TextBox 6"/>
          <p:cNvSpPr/>
          <p:nvPr/>
        </p:nvSpPr>
        <p:spPr>
          <a:xfrm>
            <a:off x="11001240" y="6492240"/>
            <a:ext cx="3078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a4a4bc"/>
                </a:solidFill>
                <a:uFillTx/>
                <a:latin typeface="Calibri"/>
              </a:rPr>
              <a:t>12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Box 1"/>
          <p:cNvSpPr/>
          <p:nvPr/>
        </p:nvSpPr>
        <p:spPr>
          <a:xfrm>
            <a:off x="3271680" y="384120"/>
            <a:ext cx="56170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f5fa"/>
                </a:solidFill>
                <a:uFillTx/>
                <a:latin typeface="Aptos Display"/>
              </a:rPr>
              <a:t>12. Item Details &amp; Smart Matches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4237200" y="960120"/>
            <a:ext cx="355824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a4a4bc"/>
                </a:solidFill>
                <a:uFillTx/>
                <a:latin typeface="Aptos"/>
              </a:rPr>
              <a:t>Submitted item details and possible matches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85" name="Picture 3" descr="62e81e09-3637-48aa-bf6e-33fa7a624e46.png"/>
          <p:cNvPicPr/>
          <p:nvPr/>
        </p:nvPicPr>
        <p:blipFill>
          <a:blip r:embed="rId1"/>
          <a:stretch/>
        </p:blipFill>
        <p:spPr>
          <a:xfrm>
            <a:off x="685800" y="1234440"/>
            <a:ext cx="10789200" cy="539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" name="Rectangle 4"/>
          <p:cNvSpPr/>
          <p:nvPr/>
        </p:nvSpPr>
        <p:spPr>
          <a:xfrm>
            <a:off x="594360" y="6473880"/>
            <a:ext cx="10972080" cy="8280"/>
          </a:xfrm>
          <a:prstGeom prst="rect">
            <a:avLst/>
          </a:prstGeom>
          <a:solidFill>
            <a:srgbClr val="302f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0" bIns="-36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87" name="TextBox 5"/>
          <p:cNvSpPr/>
          <p:nvPr/>
        </p:nvSpPr>
        <p:spPr>
          <a:xfrm>
            <a:off x="3847680" y="6519600"/>
            <a:ext cx="217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a4a4bc"/>
                </a:solidFill>
                <a:uFillTx/>
                <a:latin typeface="Calibri"/>
              </a:rPr>
              <a:t>LostFound+  |  Smart Lost &amp; Found Platform</a:t>
            </a:r>
            <a:endParaRPr b="0" lang="en-US" sz="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8" name="TextBox 6"/>
          <p:cNvSpPr/>
          <p:nvPr/>
        </p:nvSpPr>
        <p:spPr>
          <a:xfrm>
            <a:off x="11001240" y="6492240"/>
            <a:ext cx="3078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a4a4bc"/>
                </a:solidFill>
                <a:uFillTx/>
                <a:latin typeface="Calibri"/>
              </a:rPr>
              <a:t>13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1"/>
          <p:cNvSpPr/>
          <p:nvPr/>
        </p:nvSpPr>
        <p:spPr>
          <a:xfrm>
            <a:off x="4837680" y="384120"/>
            <a:ext cx="24850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f5fa"/>
                </a:solidFill>
                <a:uFillTx/>
                <a:latin typeface="Aptos Display"/>
              </a:rPr>
              <a:t>13. My Claims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5130720" y="960120"/>
            <a:ext cx="17712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a4a4bc"/>
                </a:solidFill>
                <a:uFillTx/>
                <a:latin typeface="Aptos"/>
              </a:rPr>
              <a:t>Claim status tracking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91" name="Picture 3" descr="5b9cfb89-3eec-4a76-8d75-bd04a73b6f4f.png"/>
          <p:cNvPicPr/>
          <p:nvPr/>
        </p:nvPicPr>
        <p:blipFill>
          <a:blip r:embed="rId1"/>
          <a:stretch/>
        </p:blipFill>
        <p:spPr>
          <a:xfrm>
            <a:off x="685800" y="1234440"/>
            <a:ext cx="10789200" cy="539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Rectangle 4"/>
          <p:cNvSpPr/>
          <p:nvPr/>
        </p:nvSpPr>
        <p:spPr>
          <a:xfrm>
            <a:off x="594360" y="6473880"/>
            <a:ext cx="10972080" cy="8280"/>
          </a:xfrm>
          <a:prstGeom prst="rect">
            <a:avLst/>
          </a:prstGeom>
          <a:solidFill>
            <a:srgbClr val="302f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0" bIns="-36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3" name="TextBox 5"/>
          <p:cNvSpPr/>
          <p:nvPr/>
        </p:nvSpPr>
        <p:spPr>
          <a:xfrm>
            <a:off x="3847680" y="6519600"/>
            <a:ext cx="217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a4a4bc"/>
                </a:solidFill>
                <a:uFillTx/>
                <a:latin typeface="Calibri"/>
              </a:rPr>
              <a:t>LostFound+  |  Smart Lost &amp; Found Platform</a:t>
            </a:r>
            <a:endParaRPr b="0" lang="en-US" sz="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4" name="TextBox 6"/>
          <p:cNvSpPr/>
          <p:nvPr/>
        </p:nvSpPr>
        <p:spPr>
          <a:xfrm>
            <a:off x="11001240" y="6492240"/>
            <a:ext cx="3078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a4a4bc"/>
                </a:solidFill>
                <a:uFillTx/>
                <a:latin typeface="Calibri"/>
              </a:rPr>
              <a:t>14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1"/>
          <p:cNvSpPr/>
          <p:nvPr/>
        </p:nvSpPr>
        <p:spPr>
          <a:xfrm>
            <a:off x="4420080" y="384120"/>
            <a:ext cx="3320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f5fa"/>
                </a:solidFill>
                <a:uFillTx/>
                <a:latin typeface="Aptos Display"/>
              </a:rPr>
              <a:t>14. Claim Workflow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6" name="TextBox 2"/>
          <p:cNvSpPr/>
          <p:nvPr/>
        </p:nvSpPr>
        <p:spPr>
          <a:xfrm>
            <a:off x="4657320" y="960120"/>
            <a:ext cx="27180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a4a4bc"/>
                </a:solidFill>
                <a:uFillTx/>
                <a:latin typeface="Aptos"/>
              </a:rPr>
              <a:t>Ownership claim request lifecycle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7" name="TextBox 3"/>
          <p:cNvSpPr/>
          <p:nvPr/>
        </p:nvSpPr>
        <p:spPr>
          <a:xfrm>
            <a:off x="822960" y="1417320"/>
            <a:ext cx="10332000" cy="19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User browses an item and chooses the claim action.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Claim details are submitted for review.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The claim appears under My Claims with its current status.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The item owner/admin can review and update the claim outcome.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The UI communicates pending/reviewed states clearly.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8" name="Rectangle 4"/>
          <p:cNvSpPr/>
          <p:nvPr/>
        </p:nvSpPr>
        <p:spPr>
          <a:xfrm>
            <a:off x="594360" y="6473880"/>
            <a:ext cx="10972080" cy="8280"/>
          </a:xfrm>
          <a:prstGeom prst="rect">
            <a:avLst/>
          </a:prstGeom>
          <a:solidFill>
            <a:srgbClr val="302f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0" bIns="-36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99" name="TextBox 5"/>
          <p:cNvSpPr/>
          <p:nvPr/>
        </p:nvSpPr>
        <p:spPr>
          <a:xfrm>
            <a:off x="3847680" y="6519600"/>
            <a:ext cx="217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a4a4bc"/>
                </a:solidFill>
                <a:uFillTx/>
                <a:latin typeface="Calibri"/>
              </a:rPr>
              <a:t>LostFound+  |  Smart Lost &amp; Found Platform</a:t>
            </a:r>
            <a:endParaRPr b="0" lang="en-US" sz="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0" name="TextBox 6"/>
          <p:cNvSpPr/>
          <p:nvPr/>
        </p:nvSpPr>
        <p:spPr>
          <a:xfrm>
            <a:off x="11001240" y="6492240"/>
            <a:ext cx="3078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a4a4bc"/>
                </a:solidFill>
                <a:uFillTx/>
                <a:latin typeface="Calibri"/>
              </a:rPr>
              <a:t>15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Box 1"/>
          <p:cNvSpPr/>
          <p:nvPr/>
        </p:nvSpPr>
        <p:spPr>
          <a:xfrm>
            <a:off x="4236480" y="384120"/>
            <a:ext cx="36878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f5fa"/>
                </a:solidFill>
                <a:uFillTx/>
                <a:latin typeface="Aptos Display"/>
              </a:rPr>
              <a:t>15. CRUD Operations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2" name="TextBox 2"/>
          <p:cNvSpPr/>
          <p:nvPr/>
        </p:nvSpPr>
        <p:spPr>
          <a:xfrm>
            <a:off x="822960" y="1417320"/>
            <a:ext cx="10332000" cy="19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Create: submit a lost item, found item, or claim.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Read: view profiles, reports, item details, and claim records.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Update: modify allowed item/status information and claim state.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Delete: remove records according to the application's authorization rules.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CRUD operations provide the foundation for the management portal.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3" name="Rectangle 3"/>
          <p:cNvSpPr/>
          <p:nvPr/>
        </p:nvSpPr>
        <p:spPr>
          <a:xfrm>
            <a:off x="594360" y="6473880"/>
            <a:ext cx="10972080" cy="8280"/>
          </a:xfrm>
          <a:prstGeom prst="rect">
            <a:avLst/>
          </a:prstGeom>
          <a:solidFill>
            <a:srgbClr val="302f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0" bIns="-36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4" name="TextBox 4"/>
          <p:cNvSpPr/>
          <p:nvPr/>
        </p:nvSpPr>
        <p:spPr>
          <a:xfrm>
            <a:off x="3847680" y="6519600"/>
            <a:ext cx="217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a4a4bc"/>
                </a:solidFill>
                <a:uFillTx/>
                <a:latin typeface="Calibri"/>
              </a:rPr>
              <a:t>LostFound+  |  Smart Lost &amp; Found Platform</a:t>
            </a:r>
            <a:endParaRPr b="0" lang="en-US" sz="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5" name="TextBox 5"/>
          <p:cNvSpPr/>
          <p:nvPr/>
        </p:nvSpPr>
        <p:spPr>
          <a:xfrm>
            <a:off x="11001240" y="6492240"/>
            <a:ext cx="3078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a4a4bc"/>
                </a:solidFill>
                <a:uFillTx/>
                <a:latin typeface="Calibri"/>
              </a:rPr>
              <a:t>16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Box 1"/>
          <p:cNvSpPr/>
          <p:nvPr/>
        </p:nvSpPr>
        <p:spPr>
          <a:xfrm>
            <a:off x="3214800" y="384120"/>
            <a:ext cx="57308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f5fa"/>
                </a:solidFill>
                <a:uFillTx/>
                <a:latin typeface="Aptos Display"/>
              </a:rPr>
              <a:t>16. Authentication &amp; Authorization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7" name="TextBox 2"/>
          <p:cNvSpPr/>
          <p:nvPr/>
        </p:nvSpPr>
        <p:spPr>
          <a:xfrm>
            <a:off x="822960" y="1417320"/>
            <a:ext cx="10332000" cy="15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Authentication identifies registered users before protected actions.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Authorization separates user-level access from privileged management actions.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Protected pages can be routed through authentication checks.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User-specific reports and claims are displayed through the logged-in account.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8" name="Rectangle 3"/>
          <p:cNvSpPr/>
          <p:nvPr/>
        </p:nvSpPr>
        <p:spPr>
          <a:xfrm>
            <a:off x="594360" y="6473880"/>
            <a:ext cx="10972080" cy="8280"/>
          </a:xfrm>
          <a:prstGeom prst="rect">
            <a:avLst/>
          </a:prstGeom>
          <a:solidFill>
            <a:srgbClr val="302f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0" bIns="-36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09" name="TextBox 4"/>
          <p:cNvSpPr/>
          <p:nvPr/>
        </p:nvSpPr>
        <p:spPr>
          <a:xfrm>
            <a:off x="3847680" y="6519600"/>
            <a:ext cx="217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a4a4bc"/>
                </a:solidFill>
                <a:uFillTx/>
                <a:latin typeface="Calibri"/>
              </a:rPr>
              <a:t>LostFound+  |  Smart Lost &amp; Found Platform</a:t>
            </a:r>
            <a:endParaRPr b="0" lang="en-US" sz="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0" name="TextBox 5"/>
          <p:cNvSpPr/>
          <p:nvPr/>
        </p:nvSpPr>
        <p:spPr>
          <a:xfrm>
            <a:off x="11001240" y="6492240"/>
            <a:ext cx="3078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a4a4bc"/>
                </a:solidFill>
                <a:uFillTx/>
                <a:latin typeface="Calibri"/>
              </a:rPr>
              <a:t>17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1"/>
          <p:cNvSpPr/>
          <p:nvPr/>
        </p:nvSpPr>
        <p:spPr>
          <a:xfrm>
            <a:off x="4675320" y="384120"/>
            <a:ext cx="28101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f5fa"/>
                </a:solidFill>
                <a:uFillTx/>
                <a:latin typeface="Aptos Display"/>
              </a:rPr>
              <a:t>17. File Uploads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2" name="TextBox 2"/>
          <p:cNvSpPr/>
          <p:nvPr/>
        </p:nvSpPr>
        <p:spPr>
          <a:xfrm>
            <a:off x="822960" y="1417320"/>
            <a:ext cx="10332000" cy="15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Users can attach an image while reporting a lost or found item.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The interface provides an image upload area with a file-size limit.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Uploaded images improve visual identification and matching.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Backend validation should verify file type, size, and storage handling.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3" name="Rectangle 3"/>
          <p:cNvSpPr/>
          <p:nvPr/>
        </p:nvSpPr>
        <p:spPr>
          <a:xfrm>
            <a:off x="594360" y="6473880"/>
            <a:ext cx="10972080" cy="8280"/>
          </a:xfrm>
          <a:prstGeom prst="rect">
            <a:avLst/>
          </a:prstGeom>
          <a:solidFill>
            <a:srgbClr val="302f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0" bIns="-36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14" name="TextBox 4"/>
          <p:cNvSpPr/>
          <p:nvPr/>
        </p:nvSpPr>
        <p:spPr>
          <a:xfrm>
            <a:off x="3847680" y="6519600"/>
            <a:ext cx="217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a4a4bc"/>
                </a:solidFill>
                <a:uFillTx/>
                <a:latin typeface="Calibri"/>
              </a:rPr>
              <a:t>LostFound+  |  Smart Lost &amp; Found Platform</a:t>
            </a:r>
            <a:endParaRPr b="0" lang="en-US" sz="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5" name="TextBox 5"/>
          <p:cNvSpPr/>
          <p:nvPr/>
        </p:nvSpPr>
        <p:spPr>
          <a:xfrm>
            <a:off x="11001240" y="6492240"/>
            <a:ext cx="3078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a4a4bc"/>
                </a:solidFill>
                <a:uFillTx/>
                <a:latin typeface="Calibri"/>
              </a:rPr>
              <a:t>18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1"/>
          <p:cNvSpPr/>
          <p:nvPr/>
        </p:nvSpPr>
        <p:spPr>
          <a:xfrm>
            <a:off x="4388760" y="384120"/>
            <a:ext cx="33829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f5fa"/>
                </a:solidFill>
                <a:uFillTx/>
                <a:latin typeface="Aptos Display"/>
              </a:rPr>
              <a:t>18. Search &amp; Filters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7" name="TextBox 2"/>
          <p:cNvSpPr/>
          <p:nvPr/>
        </p:nvSpPr>
        <p:spPr>
          <a:xfrm>
            <a:off x="822960" y="1417320"/>
            <a:ext cx="10332000" cy="15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Search by item keywords.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Filter by item type/category and other supported attributes.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Results are displayed as cards containing item status, location, date, and description.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The search experience helps reduce the time needed to locate possible matches.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8" name="Rectangle 3"/>
          <p:cNvSpPr/>
          <p:nvPr/>
        </p:nvSpPr>
        <p:spPr>
          <a:xfrm>
            <a:off x="594360" y="6473880"/>
            <a:ext cx="10972080" cy="8280"/>
          </a:xfrm>
          <a:prstGeom prst="rect">
            <a:avLst/>
          </a:prstGeom>
          <a:solidFill>
            <a:srgbClr val="302f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0" bIns="-36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19" name="TextBox 4"/>
          <p:cNvSpPr/>
          <p:nvPr/>
        </p:nvSpPr>
        <p:spPr>
          <a:xfrm>
            <a:off x="3847680" y="6519600"/>
            <a:ext cx="217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a4a4bc"/>
                </a:solidFill>
                <a:uFillTx/>
                <a:latin typeface="Calibri"/>
              </a:rPr>
              <a:t>LostFound+  |  Smart Lost &amp; Found Platform</a:t>
            </a:r>
            <a:endParaRPr b="0" lang="en-US" sz="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0" name="TextBox 5"/>
          <p:cNvSpPr/>
          <p:nvPr/>
        </p:nvSpPr>
        <p:spPr>
          <a:xfrm>
            <a:off x="11001240" y="6492240"/>
            <a:ext cx="3078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a4a4bc"/>
                </a:solidFill>
                <a:uFillTx/>
                <a:latin typeface="Calibri"/>
              </a:rPr>
              <a:t>19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Box 1"/>
          <p:cNvSpPr/>
          <p:nvPr/>
        </p:nvSpPr>
        <p:spPr>
          <a:xfrm>
            <a:off x="3657960" y="384120"/>
            <a:ext cx="484452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f5fa"/>
                </a:solidFill>
                <a:uFillTx/>
                <a:latin typeface="Aptos Display"/>
              </a:rPr>
              <a:t>19. MongoDB &amp; Aggregation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2" name="TextBox 2"/>
          <p:cNvSpPr/>
          <p:nvPr/>
        </p:nvSpPr>
        <p:spPr>
          <a:xfrm>
            <a:off x="822960" y="1417320"/>
            <a:ext cx="10332000" cy="15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MongoDB stores user, item, and claim information as application data.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Collections can represent users, reports/items, and claims.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Aggregation pipelines can support matching, filtering, grouping, and summary statistics.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Indexes can be applied to frequently searched fields for better query performance.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3" name="Rectangle 3"/>
          <p:cNvSpPr/>
          <p:nvPr/>
        </p:nvSpPr>
        <p:spPr>
          <a:xfrm>
            <a:off x="594360" y="6473880"/>
            <a:ext cx="10972080" cy="8280"/>
          </a:xfrm>
          <a:prstGeom prst="rect">
            <a:avLst/>
          </a:prstGeom>
          <a:solidFill>
            <a:srgbClr val="302f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0" bIns="-36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24" name="TextBox 4"/>
          <p:cNvSpPr/>
          <p:nvPr/>
        </p:nvSpPr>
        <p:spPr>
          <a:xfrm>
            <a:off x="3847680" y="6519600"/>
            <a:ext cx="217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a4a4bc"/>
                </a:solidFill>
                <a:uFillTx/>
                <a:latin typeface="Calibri"/>
              </a:rPr>
              <a:t>LostFound+  |  Smart Lost &amp; Found Platform</a:t>
            </a:r>
            <a:endParaRPr b="0" lang="en-US" sz="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5" name="TextBox 5"/>
          <p:cNvSpPr/>
          <p:nvPr/>
        </p:nvSpPr>
        <p:spPr>
          <a:xfrm>
            <a:off x="11001240" y="6492240"/>
            <a:ext cx="3078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a4a4bc"/>
                </a:solidFill>
                <a:uFillTx/>
                <a:latin typeface="Calibri"/>
              </a:rPr>
              <a:t>20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1"/>
          <p:cNvSpPr/>
          <p:nvPr/>
        </p:nvSpPr>
        <p:spPr>
          <a:xfrm>
            <a:off x="3466080" y="384120"/>
            <a:ext cx="52286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f5fa"/>
                </a:solidFill>
                <a:uFillTx/>
                <a:latin typeface="Aptos Display"/>
              </a:rPr>
              <a:t>20. Frontend Technology Stack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7" name="Rounded Rectangle 2"/>
          <p:cNvSpPr/>
          <p:nvPr/>
        </p:nvSpPr>
        <p:spPr>
          <a:xfrm>
            <a:off x="731520" y="1325880"/>
            <a:ext cx="10697760" cy="4799880"/>
          </a:xfrm>
          <a:prstGeom prst="roundRect">
            <a:avLst>
              <a:gd name="adj" fmla="val 16667"/>
            </a:avLst>
          </a:prstGeom>
          <a:solidFill>
            <a:srgbClr val="1d1d2f"/>
          </a:solidFill>
          <a:ln w="12700">
            <a:solidFill>
              <a:srgbClr val="34334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28" name="TextBox 3"/>
          <p:cNvSpPr/>
          <p:nvPr/>
        </p:nvSpPr>
        <p:spPr>
          <a:xfrm>
            <a:off x="954720" y="1344240"/>
            <a:ext cx="17409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89280" rIns="8928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IN" sz="1600" strike="noStrike" u="none">
                <a:solidFill>
                  <a:srgbClr val="f5f5fa"/>
                </a:solidFill>
                <a:uFillTx/>
                <a:latin typeface="Calibri"/>
              </a:rPr>
              <a:t>PACKAGE.JSON</a:t>
            </a:r>
            <a:endParaRPr b="0" lang="en-US" sz="1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9" name="TextBox 4"/>
          <p:cNvSpPr/>
          <p:nvPr/>
        </p:nvSpPr>
        <p:spPr>
          <a:xfrm>
            <a:off x="4263120" y="1692000"/>
            <a:ext cx="3543120" cy="421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{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  </a:t>
            </a: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"name": "lostfound-plus-client",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  </a:t>
            </a: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"private": true,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  </a:t>
            </a: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"version": "0.0.1",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  </a:t>
            </a: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"type": "module",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  </a:t>
            </a: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"scripts": {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    </a:t>
            </a: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"dev": "node node_modules/vite/bin/vite.js",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    </a:t>
            </a: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"build": "node node_modules/vite/bin/vite.js build",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    </a:t>
            </a: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"preview": "node node_modules/vite/bin/vite.js preview"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  </a:t>
            </a: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},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  </a:t>
            </a: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"dependencies": {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    </a:t>
            </a: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"react": "^18.2.0",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    </a:t>
            </a: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"react-dom": "^18.2.0",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    </a:t>
            </a: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"react-router-dom": "^6.22.0",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    </a:t>
            </a: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"axios": "^1.6.5",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    </a:t>
            </a: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"react-hot-toast": "^2.4.1",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    </a:t>
            </a: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"react-icons": "^5.0.1",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    </a:t>
            </a: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"date-fns": "^3.3.1"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  </a:t>
            </a: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},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  </a:t>
            </a: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"devDependencies": {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    </a:t>
            </a: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"@vitejs/plugin-react": "^4.2.1",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    </a:t>
            </a: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"vite": "^5.0.12",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    </a:t>
            </a: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"tailwindcss": "^3.4.1",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    </a:t>
            </a: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"autoprefixer": "^10.4.17",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    </a:t>
            </a: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"postcss": "^8.4.35"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  </a:t>
            </a: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}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f5f5fa"/>
                </a:solidFill>
                <a:uFillTx/>
                <a:latin typeface="Consolas"/>
              </a:rPr>
              <a:t>}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0" name="Rounded Rectangle 5"/>
          <p:cNvSpPr/>
          <p:nvPr/>
        </p:nvSpPr>
        <p:spPr>
          <a:xfrm>
            <a:off x="8229600" y="5504760"/>
            <a:ext cx="2742480" cy="639360"/>
          </a:xfrm>
          <a:prstGeom prst="roundRect">
            <a:avLst>
              <a:gd name="adj" fmla="val 16667"/>
            </a:avLst>
          </a:prstGeom>
          <a:solidFill>
            <a:srgbClr val="181728"/>
          </a:solidFill>
          <a:ln w="19050">
            <a:solidFill>
              <a:srgbClr val="5a5778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31" name="Rectangle 7"/>
          <p:cNvSpPr/>
          <p:nvPr/>
        </p:nvSpPr>
        <p:spPr>
          <a:xfrm>
            <a:off x="594360" y="6473880"/>
            <a:ext cx="10972080" cy="8280"/>
          </a:xfrm>
          <a:prstGeom prst="rect">
            <a:avLst/>
          </a:prstGeom>
          <a:solidFill>
            <a:srgbClr val="302f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0" bIns="-36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32" name="TextBox 8"/>
          <p:cNvSpPr/>
          <p:nvPr/>
        </p:nvSpPr>
        <p:spPr>
          <a:xfrm>
            <a:off x="3847680" y="6519600"/>
            <a:ext cx="217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a4a4bc"/>
                </a:solidFill>
                <a:uFillTx/>
                <a:latin typeface="Calibri"/>
              </a:rPr>
              <a:t>LostFound+  |  Smart Lost &amp; Found Platform</a:t>
            </a:r>
            <a:endParaRPr b="0" lang="en-US" sz="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3" name="TextBox 9"/>
          <p:cNvSpPr/>
          <p:nvPr/>
        </p:nvSpPr>
        <p:spPr>
          <a:xfrm>
            <a:off x="11001240" y="6492240"/>
            <a:ext cx="3078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a4a4bc"/>
                </a:solidFill>
                <a:uFillTx/>
                <a:latin typeface="Calibri"/>
              </a:rPr>
              <a:t>21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Box 1"/>
          <p:cNvSpPr/>
          <p:nvPr/>
        </p:nvSpPr>
        <p:spPr>
          <a:xfrm>
            <a:off x="-111240" y="54720"/>
            <a:ext cx="6839640" cy="2651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89280" rIns="8928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f5fa"/>
                </a:solidFill>
                <a:uFillTx/>
                <a:latin typeface="Aptos Display"/>
              </a:rPr>
              <a:t>21. package.json — Client Dependencies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5" name="Rectangle 3"/>
          <p:cNvSpPr/>
          <p:nvPr/>
        </p:nvSpPr>
        <p:spPr>
          <a:xfrm>
            <a:off x="594360" y="6473880"/>
            <a:ext cx="10972080" cy="8280"/>
          </a:xfrm>
          <a:prstGeom prst="rect">
            <a:avLst/>
          </a:prstGeom>
          <a:solidFill>
            <a:srgbClr val="302f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0" bIns="-36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36" name="TextBox 4"/>
          <p:cNvSpPr/>
          <p:nvPr/>
        </p:nvSpPr>
        <p:spPr>
          <a:xfrm>
            <a:off x="3847680" y="6519600"/>
            <a:ext cx="217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a4a4bc"/>
                </a:solidFill>
                <a:uFillTx/>
                <a:latin typeface="Calibri"/>
              </a:rPr>
              <a:t>LostFound+  |  Smart Lost &amp; Found Platform</a:t>
            </a:r>
            <a:endParaRPr b="0" lang="en-US" sz="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7" name="TextBox 5"/>
          <p:cNvSpPr/>
          <p:nvPr/>
        </p:nvSpPr>
        <p:spPr>
          <a:xfrm>
            <a:off x="11001240" y="6492240"/>
            <a:ext cx="3078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a4a4bc"/>
                </a:solidFill>
                <a:uFillTx/>
                <a:latin typeface="Calibri"/>
              </a:rPr>
              <a:t>22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38" name="Picture 7" descr=""/>
          <p:cNvPicPr/>
          <p:nvPr/>
        </p:nvPicPr>
        <p:blipFill>
          <a:blip r:embed="rId1"/>
          <a:stretch/>
        </p:blipFill>
        <p:spPr>
          <a:xfrm>
            <a:off x="3949560" y="815760"/>
            <a:ext cx="4292280" cy="52257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"/>
          <p:cNvSpPr/>
          <p:nvPr/>
        </p:nvSpPr>
        <p:spPr>
          <a:xfrm>
            <a:off x="3557880" y="5760"/>
            <a:ext cx="40024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f5fa"/>
                </a:solidFill>
                <a:uFillTx/>
                <a:latin typeface="Aptos Display"/>
              </a:rPr>
              <a:t>22. Testing &amp; Validation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0" name="Rounded Rectangle 2"/>
          <p:cNvSpPr/>
          <p:nvPr/>
        </p:nvSpPr>
        <p:spPr>
          <a:xfrm>
            <a:off x="685800" y="1325880"/>
            <a:ext cx="10789200" cy="4525560"/>
          </a:xfrm>
          <a:prstGeom prst="roundRect">
            <a:avLst>
              <a:gd name="adj" fmla="val 16667"/>
            </a:avLst>
          </a:prstGeom>
          <a:solidFill>
            <a:srgbClr val="181728"/>
          </a:solidFill>
          <a:ln w="19050">
            <a:solidFill>
              <a:srgbClr val="5a5778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41" name="Rounded Rectangle 4"/>
          <p:cNvSpPr/>
          <p:nvPr/>
        </p:nvSpPr>
        <p:spPr>
          <a:xfrm>
            <a:off x="685800" y="5897880"/>
            <a:ext cx="5211360" cy="410760"/>
          </a:xfrm>
          <a:prstGeom prst="roundRect">
            <a:avLst>
              <a:gd name="adj" fmla="val 16667"/>
            </a:avLst>
          </a:prstGeom>
          <a:solidFill>
            <a:srgbClr val="181728"/>
          </a:solidFill>
          <a:ln w="19050">
            <a:solidFill>
              <a:srgbClr val="5a5778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42" name="TextBox 5"/>
          <p:cNvSpPr/>
          <p:nvPr/>
        </p:nvSpPr>
        <p:spPr>
          <a:xfrm>
            <a:off x="1422000" y="5845320"/>
            <a:ext cx="3738600" cy="51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trike="noStrike" u="none">
                <a:solidFill>
                  <a:srgbClr val="57cde5"/>
                </a:solidFill>
                <a:uFillTx/>
                <a:latin typeface="Calibri"/>
              </a:rPr>
              <a:t>Editable video link / QR area</a:t>
            </a:r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000" strike="noStrike" u="none">
                <a:solidFill>
                  <a:srgbClr val="a4a4bc"/>
                </a:solidFill>
                <a:uFillTx/>
                <a:latin typeface="Calibri"/>
              </a:rPr>
              <a:t>Editable placeholder — replace with your final screenshot/video</a:t>
            </a:r>
            <a:endParaRPr b="0" lang="en-US" sz="1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3" name="Rectangle 6"/>
          <p:cNvSpPr/>
          <p:nvPr/>
        </p:nvSpPr>
        <p:spPr>
          <a:xfrm>
            <a:off x="594360" y="6473880"/>
            <a:ext cx="10972080" cy="8280"/>
          </a:xfrm>
          <a:prstGeom prst="rect">
            <a:avLst/>
          </a:prstGeom>
          <a:solidFill>
            <a:srgbClr val="302f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0" bIns="-36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44" name="TextBox 7"/>
          <p:cNvSpPr/>
          <p:nvPr/>
        </p:nvSpPr>
        <p:spPr>
          <a:xfrm>
            <a:off x="3847680" y="6519600"/>
            <a:ext cx="217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a4a4bc"/>
                </a:solidFill>
                <a:uFillTx/>
                <a:latin typeface="Calibri"/>
              </a:rPr>
              <a:t>LostFound+  |  Smart Lost &amp; Found Platform</a:t>
            </a:r>
            <a:endParaRPr b="0" lang="en-US" sz="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5" name="TextBox 8"/>
          <p:cNvSpPr/>
          <p:nvPr/>
        </p:nvSpPr>
        <p:spPr>
          <a:xfrm>
            <a:off x="11001240" y="6492240"/>
            <a:ext cx="3078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a4a4bc"/>
                </a:solidFill>
                <a:uFillTx/>
                <a:latin typeface="Calibri"/>
              </a:rPr>
              <a:t>23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46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73080" y="106200"/>
            <a:ext cx="11868120" cy="6595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13900" fill="hold"/>
                                        <p:tgtEl>
                                          <p:spTgt spid="14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  <p:video>
              <p:cMediaNode>
                <p:cTn>
                  <p:stCondLst>
                    <p:cond delay="indefinite"/>
                  </p:stCondLst>
                </p:cTn>
                <p:tgtEl>
                  <p:spTgt spid="146"/>
                </p:tgtEl>
              </p:cMediaNode>
            </p:video>
            <p:seq>
              <p:cTn id="7" restart="whenNotActive" nodeType="interactiveSeq" fill="hold">
                <p:stCondLst>
                  <p:cond delay="0" evt="onClick">
                    <p:tgtEl>
                      <p:spTgt spid="146"/>
                    </p:tgtEl>
                  </p:cond>
                </p:stCondLst>
                <p:childTnLst>
                  <p:par>
                    <p:cTn id="8" fill="hold">
                      <p:stCondLst>
                        <p:cond delay="0" evt="onClick">
                          <p:tgtEl>
                            <p:spTgt spid="146"/>
                          </p:tgtEl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nodeType="clickEffect" fill="hold" presetClass="mediacall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4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Box 1"/>
          <p:cNvSpPr/>
          <p:nvPr/>
        </p:nvSpPr>
        <p:spPr>
          <a:xfrm>
            <a:off x="-120960" y="-75240"/>
            <a:ext cx="34740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89280" rIns="8928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f5fa"/>
                </a:solidFill>
                <a:uFillTx/>
                <a:latin typeface="Aptos Display"/>
              </a:rPr>
              <a:t>23. </a:t>
            </a:r>
            <a:r>
              <a:rPr b="1" lang="en-IN" sz="2800" strike="noStrike" u="none">
                <a:solidFill>
                  <a:srgbClr val="f5f5fa"/>
                </a:solidFill>
                <a:uFillTx/>
                <a:latin typeface="Aptos Display"/>
              </a:rPr>
              <a:t>Project overview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48" name="Rounded Rectangle 3"/>
          <p:cNvSpPr/>
          <p:nvPr/>
        </p:nvSpPr>
        <p:spPr>
          <a:xfrm>
            <a:off x="685800" y="1325880"/>
            <a:ext cx="5211360" cy="2056680"/>
          </a:xfrm>
          <a:prstGeom prst="roundRect">
            <a:avLst>
              <a:gd name="adj" fmla="val 16667"/>
            </a:avLst>
          </a:prstGeom>
          <a:solidFill>
            <a:srgbClr val="181728"/>
          </a:solidFill>
          <a:ln w="19050">
            <a:solidFill>
              <a:srgbClr val="5a5778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49" name="Rounded Rectangle 5"/>
          <p:cNvSpPr/>
          <p:nvPr/>
        </p:nvSpPr>
        <p:spPr>
          <a:xfrm>
            <a:off x="6263640" y="1325880"/>
            <a:ext cx="5211360" cy="2056680"/>
          </a:xfrm>
          <a:prstGeom prst="roundRect">
            <a:avLst>
              <a:gd name="adj" fmla="val 16667"/>
            </a:avLst>
          </a:prstGeom>
          <a:solidFill>
            <a:srgbClr val="181728"/>
          </a:solidFill>
          <a:ln w="19050">
            <a:solidFill>
              <a:srgbClr val="5a5778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50" name="Rounded Rectangle 7"/>
          <p:cNvSpPr/>
          <p:nvPr/>
        </p:nvSpPr>
        <p:spPr>
          <a:xfrm>
            <a:off x="685800" y="3703320"/>
            <a:ext cx="5211360" cy="2056680"/>
          </a:xfrm>
          <a:prstGeom prst="roundRect">
            <a:avLst>
              <a:gd name="adj" fmla="val 16667"/>
            </a:avLst>
          </a:prstGeom>
          <a:solidFill>
            <a:srgbClr val="181728"/>
          </a:solidFill>
          <a:ln w="19050">
            <a:solidFill>
              <a:srgbClr val="5a5778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51" name="Rounded Rectangle 9"/>
          <p:cNvSpPr/>
          <p:nvPr/>
        </p:nvSpPr>
        <p:spPr>
          <a:xfrm>
            <a:off x="6263640" y="3703320"/>
            <a:ext cx="5211360" cy="2056680"/>
          </a:xfrm>
          <a:prstGeom prst="roundRect">
            <a:avLst>
              <a:gd name="adj" fmla="val 16667"/>
            </a:avLst>
          </a:prstGeom>
          <a:solidFill>
            <a:srgbClr val="181728"/>
          </a:solidFill>
          <a:ln w="19050">
            <a:solidFill>
              <a:srgbClr val="5a5778"/>
            </a:solidFill>
            <a:prstDash val="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52" name="Rectangle 11"/>
          <p:cNvSpPr/>
          <p:nvPr/>
        </p:nvSpPr>
        <p:spPr>
          <a:xfrm>
            <a:off x="594360" y="6473880"/>
            <a:ext cx="10972080" cy="8280"/>
          </a:xfrm>
          <a:prstGeom prst="rect">
            <a:avLst/>
          </a:prstGeom>
          <a:solidFill>
            <a:srgbClr val="302f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0" bIns="-36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53" name="TextBox 12"/>
          <p:cNvSpPr/>
          <p:nvPr/>
        </p:nvSpPr>
        <p:spPr>
          <a:xfrm>
            <a:off x="3847680" y="6519600"/>
            <a:ext cx="217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a4a4bc"/>
                </a:solidFill>
                <a:uFillTx/>
                <a:latin typeface="Calibri"/>
              </a:rPr>
              <a:t>LostFound+  |  Smart Lost &amp; Found Platform</a:t>
            </a:r>
            <a:endParaRPr b="0" lang="en-US" sz="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4" name="TextBox 13"/>
          <p:cNvSpPr/>
          <p:nvPr/>
        </p:nvSpPr>
        <p:spPr>
          <a:xfrm>
            <a:off x="11001240" y="6492240"/>
            <a:ext cx="3078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a4a4bc"/>
                </a:solidFill>
                <a:uFillTx/>
                <a:latin typeface="Calibri"/>
              </a:rPr>
              <a:t>24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pic>
        <p:nvPicPr>
          <p:cNvPr id="155" name="Picture 15" descr=""/>
          <p:cNvPicPr/>
          <p:nvPr/>
        </p:nvPicPr>
        <p:blipFill>
          <a:blip r:embed="rId1"/>
          <a:stretch/>
        </p:blipFill>
        <p:spPr>
          <a:xfrm>
            <a:off x="1691280" y="1243080"/>
            <a:ext cx="2489040" cy="22309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" name="Picture 17" descr=""/>
          <p:cNvPicPr/>
          <p:nvPr/>
        </p:nvPicPr>
        <p:blipFill>
          <a:blip r:embed="rId2"/>
          <a:stretch/>
        </p:blipFill>
        <p:spPr>
          <a:xfrm>
            <a:off x="0" y="432360"/>
            <a:ext cx="12124080" cy="5976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Box 1"/>
          <p:cNvSpPr/>
          <p:nvPr/>
        </p:nvSpPr>
        <p:spPr>
          <a:xfrm>
            <a:off x="3836880" y="384120"/>
            <a:ext cx="44870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f5fa"/>
                </a:solidFill>
                <a:uFillTx/>
                <a:latin typeface="Aptos Display"/>
              </a:rPr>
              <a:t>24. Results &amp; Screenshots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8" name="TextBox 2"/>
          <p:cNvSpPr/>
          <p:nvPr/>
        </p:nvSpPr>
        <p:spPr>
          <a:xfrm>
            <a:off x="621720" y="960120"/>
            <a:ext cx="9573120" cy="187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IN" sz="1300" strike="noStrike" u="none">
                <a:solidFill>
                  <a:srgbClr val="a4a4bc"/>
                </a:solidFill>
                <a:uFillTx/>
                <a:latin typeface="Arial Black"/>
              </a:rPr>
              <a:t>DEMO VIDEO: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IN" sz="1300" strike="noStrike" u="none">
                <a:solidFill>
                  <a:srgbClr val="a4a4bc"/>
                </a:solidFill>
                <a:uFillTx/>
                <a:latin typeface="Calibri"/>
              </a:rPr>
              <a:t>"C:\Users\Azhagarasi\OneDrive\Documents\Recording 2026-09-25 003144.mp4“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IN" sz="1300" strike="noStrike" u="none">
                <a:solidFill>
                  <a:srgbClr val="a4a4bc"/>
                </a:solidFill>
                <a:uFillTx/>
                <a:latin typeface="Arial Black"/>
              </a:rPr>
              <a:t>CODE LINK: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IN" sz="1300" strike="noStrike" u="none">
                <a:solidFill>
                  <a:srgbClr val="a4a4bc"/>
                </a:solidFill>
                <a:uFillTx/>
                <a:latin typeface="Calibri"/>
              </a:rPr>
              <a:t>https://github.com/gdharshan86/newlostfound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9" name="Rectangle 3"/>
          <p:cNvSpPr/>
          <p:nvPr/>
        </p:nvSpPr>
        <p:spPr>
          <a:xfrm>
            <a:off x="594360" y="6473880"/>
            <a:ext cx="10972080" cy="8280"/>
          </a:xfrm>
          <a:prstGeom prst="rect">
            <a:avLst/>
          </a:prstGeom>
          <a:solidFill>
            <a:srgbClr val="302f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0" bIns="-36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60" name="TextBox 4"/>
          <p:cNvSpPr/>
          <p:nvPr/>
        </p:nvSpPr>
        <p:spPr>
          <a:xfrm>
            <a:off x="3847680" y="6519600"/>
            <a:ext cx="217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a4a4bc"/>
                </a:solidFill>
                <a:uFillTx/>
                <a:latin typeface="Calibri"/>
              </a:rPr>
              <a:t>LostFound+  |  Smart Lost &amp; Found Platform</a:t>
            </a:r>
            <a:endParaRPr b="0" lang="en-US" sz="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1" name="TextBox 5"/>
          <p:cNvSpPr/>
          <p:nvPr/>
        </p:nvSpPr>
        <p:spPr>
          <a:xfrm>
            <a:off x="11001240" y="6492240"/>
            <a:ext cx="3078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a4a4bc"/>
                </a:solidFill>
                <a:uFillTx/>
                <a:latin typeface="Calibri"/>
              </a:rPr>
              <a:t>25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"/>
          <p:cNvSpPr/>
          <p:nvPr/>
        </p:nvSpPr>
        <p:spPr>
          <a:xfrm>
            <a:off x="3895200" y="384120"/>
            <a:ext cx="43704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f5fa"/>
                </a:solidFill>
                <a:uFillTx/>
                <a:latin typeface="Aptos Display"/>
              </a:rPr>
              <a:t>25. Future Enhancements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3" name="TextBox 2"/>
          <p:cNvSpPr/>
          <p:nvPr/>
        </p:nvSpPr>
        <p:spPr>
          <a:xfrm>
            <a:off x="822960" y="1417320"/>
            <a:ext cx="10332000" cy="199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Improved matching using image similarity and richer item attributes.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Email or in-app notifications for possible matches and claim updates.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Admin analytics dashboard with recovery statistics.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Stronger moderation and verification workflows.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Mobile-first/PWA support and improved accessibility.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4" name="Rectangle 3"/>
          <p:cNvSpPr/>
          <p:nvPr/>
        </p:nvSpPr>
        <p:spPr>
          <a:xfrm>
            <a:off x="594360" y="6473880"/>
            <a:ext cx="10972080" cy="8280"/>
          </a:xfrm>
          <a:prstGeom prst="rect">
            <a:avLst/>
          </a:prstGeom>
          <a:solidFill>
            <a:srgbClr val="302f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0" bIns="-36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65" name="TextBox 4"/>
          <p:cNvSpPr/>
          <p:nvPr/>
        </p:nvSpPr>
        <p:spPr>
          <a:xfrm>
            <a:off x="3847680" y="6519600"/>
            <a:ext cx="217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a4a4bc"/>
                </a:solidFill>
                <a:uFillTx/>
                <a:latin typeface="Calibri"/>
              </a:rPr>
              <a:t>LostFound+  |  Smart Lost &amp; Found Platform</a:t>
            </a:r>
            <a:endParaRPr b="0" lang="en-US" sz="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6" name="TextBox 5"/>
          <p:cNvSpPr/>
          <p:nvPr/>
        </p:nvSpPr>
        <p:spPr>
          <a:xfrm>
            <a:off x="11001240" y="6492240"/>
            <a:ext cx="3078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a4a4bc"/>
                </a:solidFill>
                <a:uFillTx/>
                <a:latin typeface="Calibri"/>
              </a:rPr>
              <a:t>26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c0b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Box 1"/>
          <p:cNvSpPr/>
          <p:nvPr/>
        </p:nvSpPr>
        <p:spPr>
          <a:xfrm>
            <a:off x="4772520" y="384120"/>
            <a:ext cx="26157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trike="noStrike" u="none">
                <a:solidFill>
                  <a:srgbClr val="f5f5fa"/>
                </a:solidFill>
                <a:uFillTx/>
                <a:latin typeface="Aptos Display"/>
              </a:rPr>
              <a:t>26. Conclusion</a:t>
            </a:r>
            <a:endParaRPr b="0" lang="en-US" sz="2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8" name="TextBox 2"/>
          <p:cNvSpPr/>
          <p:nvPr/>
        </p:nvSpPr>
        <p:spPr>
          <a:xfrm>
            <a:off x="4245840" y="960120"/>
            <a:ext cx="35409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300" strike="noStrike" u="none">
                <a:solidFill>
                  <a:srgbClr val="a4a4bc"/>
                </a:solidFill>
                <a:uFillTx/>
                <a:latin typeface="Aptos"/>
              </a:rPr>
              <a:t>LostFound+ — Lost and Found Management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69" name="TextBox 3"/>
          <p:cNvSpPr/>
          <p:nvPr/>
        </p:nvSpPr>
        <p:spPr>
          <a:xfrm>
            <a:off x="822960" y="1417320"/>
            <a:ext cx="10332000" cy="169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LostFound+ brings reporting, discovery, claiming, and status tracking into one structured portal.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The project demonstrates CRUD operations, authentication, file uploads, search/filter functionality, and MongoDB-oriented data management.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• </a:t>
            </a:r>
            <a:r>
              <a:rPr b="0" lang="en-US" sz="1700" strike="noStrike" u="none">
                <a:solidFill>
                  <a:srgbClr val="f5f5fa"/>
                </a:solidFill>
                <a:uFillTx/>
                <a:latin typeface="Aptos"/>
              </a:rPr>
              <a:t>The final implementation can be extended with smarter matching, notifications, analytics, and stronger verification.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0" name="Rectangle 4"/>
          <p:cNvSpPr/>
          <p:nvPr/>
        </p:nvSpPr>
        <p:spPr>
          <a:xfrm>
            <a:off x="594360" y="6473880"/>
            <a:ext cx="10972080" cy="8280"/>
          </a:xfrm>
          <a:prstGeom prst="rect">
            <a:avLst/>
          </a:prstGeom>
          <a:solidFill>
            <a:srgbClr val="302f4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36000" bIns="-36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uFillTx/>
              <a:latin typeface="Calibri"/>
            </a:endParaRPr>
          </a:p>
        </p:txBody>
      </p:sp>
      <p:sp>
        <p:nvSpPr>
          <p:cNvPr id="171" name="TextBox 5"/>
          <p:cNvSpPr/>
          <p:nvPr/>
        </p:nvSpPr>
        <p:spPr>
          <a:xfrm>
            <a:off x="3847680" y="6519600"/>
            <a:ext cx="2179440" cy="2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800" strike="noStrike" u="none">
                <a:solidFill>
                  <a:srgbClr val="a4a4bc"/>
                </a:solidFill>
                <a:uFillTx/>
                <a:latin typeface="Calibri"/>
              </a:rPr>
              <a:t>LostFound+  |  Smart Lost &amp; Found Platform</a:t>
            </a:r>
            <a:endParaRPr b="0" lang="en-US" sz="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72" name="TextBox 6"/>
          <p:cNvSpPr/>
          <p:nvPr/>
        </p:nvSpPr>
        <p:spPr>
          <a:xfrm>
            <a:off x="11001240" y="6492240"/>
            <a:ext cx="30780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0" lang="en-US" sz="900" strike="noStrike" u="none">
                <a:solidFill>
                  <a:srgbClr val="a4a4bc"/>
                </a:solidFill>
                <a:uFillTx/>
                <a:latin typeface="Calibri"/>
              </a:rPr>
              <a:t>27</a:t>
            </a:r>
            <a:endParaRPr b="0" lang="en-US" sz="9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</TotalTime>
  <Application>LibreOfficeDev/24.8.7.2.0$Android_AARCH64 LibreOffice_project/</Application>
  <AppVersion>15.0000</AppVersion>
  <Words>1443</Words>
  <Paragraphs>171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Azhagarasi</dc:creator>
  <dc:description>generated using python-pptx</dc:description>
  <dc:language>en-US</dc:language>
  <cp:lastModifiedBy>azhagarasi malairaj</cp:lastModifiedBy>
  <dcterms:modified xsi:type="dcterms:W3CDTF">2026-09-25T00:03:16Z</dcterms:modified>
  <cp:revision>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1</vt:i4>
  </property>
  <property fmtid="{D5CDD505-2E9C-101B-9397-08002B2CF9AE}" pid="3" name="PresentationFormat">
    <vt:lpwstr>Widescreen</vt:lpwstr>
  </property>
  <property fmtid="{D5CDD505-2E9C-101B-9397-08002B2CF9AE}" pid="4" name="Slides">
    <vt:i4>27</vt:i4>
  </property>
</Properties>
</file>